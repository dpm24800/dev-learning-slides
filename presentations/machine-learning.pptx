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56732" autoAdjust="0"/>
  </p:normalViewPr>
  <p:slideViewPr>
    <p:cSldViewPr snapToGrid="0">
      <p:cViewPr varScale="1">
        <p:scale>
          <a:sx n="79" d="100"/>
          <a:sy n="79" d="100"/>
        </p:scale>
        <p:origin x="773" y="72"/>
      </p:cViewPr>
      <p:guideLst/>
    </p:cSldViewPr>
  </p:slideViewPr>
  <p:notesTextViewPr>
    <p:cViewPr>
      <p:scale>
        <a:sx n="1" d="1"/>
        <a:sy n="1" d="1"/>
      </p:scale>
      <p:origin x="0" y="-2587"/>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924B53-DF08-40A2-9D8D-9C750C65AA2C}"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1CB5B8-A7FC-441A-BDD1-350397DE3454}" type="slidenum">
              <a:rPr lang="en-US" smtClean="0"/>
              <a:t>‹#›</a:t>
            </a:fld>
            <a:endParaRPr lang="en-US"/>
          </a:p>
        </p:txBody>
      </p:sp>
    </p:spTree>
    <p:extLst>
      <p:ext uri="{BB962C8B-B14F-4D97-AF65-F5344CB8AC3E}">
        <p14:creationId xmlns:p14="http://schemas.microsoft.com/office/powerpoint/2010/main" val="1937470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facebook.com/joshuasalamipeter?__cft__%5b0%5d=AZZx9S4Yf01Zfc20ifi8C2OSdKSyQkXol3ubaPfTNlrb_HRzACA49D-70C0PS0FSp6OLgyYgc8pNKpcay-8bODin_BB-UtvYi9qzpBSLfTeW96tiWWDN_XgbggYF-QvmHsUba3SmJBOBq-btMPDKWHI6LvXsRw684fKN99YTB3Nkgw&amp;__tn__=-%5dK*F"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www.facebook.com/hashtag/ai?__eep__=6&amp;__cft__%5b0%5d=AZZx9S4Yf01Zfc20ifi8C2OSdKSyQkXol3ubaPfTNlrb_HRzACA49D-70C0PS0FSp6OLgyYgc8pNKpcay-8bODin_BB-UtvYi9qzpBSLfTeW96tiWWDN_XgbggYF-QvmHsUba3SmJBOBq-btMPDKWHI6LvXsRw684fKN99YTB3Nkgw&amp;__tn__=*NK*F" TargetMode="External"/><Relationship Id="rId5" Type="http://schemas.openxmlformats.org/officeDocument/2006/relationships/hyperlink" Target="https://www.facebook.com/hashtag/statistics?__eep__=6&amp;__cft__%5b0%5d=AZZx9S4Yf01Zfc20ifi8C2OSdKSyQkXol3ubaPfTNlrb_HRzACA49D-70C0PS0FSp6OLgyYgc8pNKpcay-8bODin_BB-UtvYi9qzpBSLfTeW96tiWWDN_XgbggYF-QvmHsUba3SmJBOBq-btMPDKWHI6LvXsRw684fKN99YTB3Nkgw&amp;__tn__=*NK*F" TargetMode="External"/><Relationship Id="rId4" Type="http://schemas.openxmlformats.org/officeDocument/2006/relationships/hyperlink" Target="https://www.facebook.com/hashtag/datascience?__eep__=6&amp;__cft__%5b0%5d=AZZx9S4Yf01Zfc20ifi8C2OSdKSyQkXol3ubaPfTNlrb_HRzACA49D-70C0PS0FSp6OLgyYgc8pNKpcay-8bODin_BB-UtvYi9qzpBSLfTeW96tiWWDN_XgbggYF-QvmHsUba3SmJBOBq-btMPDKWHI6LvXsRw684fKN99YTB3Nkgw&amp;__tn__=*NK*F"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0" i="0" u="none" strike="noStrike" kern="1200" dirty="0">
                <a:solidFill>
                  <a:schemeClr val="tx1"/>
                </a:solidFill>
                <a:effectLst/>
                <a:latin typeface="+mn-lt"/>
                <a:ea typeface="+mn-ea"/>
                <a:cs typeface="+mn-cs"/>
              </a:rPr>
              <a:t>Linear Regression: The Assumptions You Must Understand</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Linear regression is one of the most powerful tools in statistics; but it only works properly when its assumptions are (reasonably) satisfied. If you ignore them, your results can be misleading, no matter how good your data looks.</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Here’s a simple breakdown </a:t>
            </a:r>
            <a:br>
              <a:rPr lang="en-US" sz="1200" b="0" i="0" u="none" strike="noStrike" kern="1200" dirty="0">
                <a:solidFill>
                  <a:schemeClr val="tx1"/>
                </a:solidFill>
                <a:effectLst/>
                <a:latin typeface="+mn-lt"/>
                <a:ea typeface="+mn-ea"/>
                <a:cs typeface="+mn-cs"/>
              </a:rPr>
            </a:br>
            <a:endParaRPr lang="en-US" sz="1200" b="0" i="0" u="none" strike="noStrike" kern="1200" dirty="0">
              <a:solidFill>
                <a:schemeClr val="tx1"/>
              </a:solidFill>
              <a:effectLst/>
              <a:latin typeface="+mn-lt"/>
              <a:ea typeface="+mn-ea"/>
              <a:cs typeface="+mn-cs"/>
            </a:endParaRPr>
          </a:p>
          <a:p>
            <a:pPr fontAlgn="ctr"/>
            <a:r>
              <a:rPr lang="en-US" sz="1200" b="0" i="0" u="none" strike="noStrike" kern="1200" dirty="0">
                <a:solidFill>
                  <a:schemeClr val="tx1"/>
                </a:solidFill>
                <a:effectLst/>
                <a:latin typeface="+mn-lt"/>
                <a:ea typeface="+mn-ea"/>
                <a:cs typeface="+mn-cs"/>
              </a:rPr>
              <a:t>Linearity</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The average relationship between predictors and the response is linear.</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Check with scatterplots and residual plots.</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Independence of Errors</a:t>
            </a:r>
            <a:br>
              <a:rPr lang="en-US" sz="1200" b="0" i="0" u="none" strike="noStrike" kern="1200" dirty="0">
                <a:solidFill>
                  <a:schemeClr val="tx1"/>
                </a:solidFill>
                <a:effectLst/>
                <a:latin typeface="+mn-lt"/>
                <a:ea typeface="+mn-ea"/>
                <a:cs typeface="+mn-cs"/>
              </a:rPr>
            </a:br>
            <a:r>
              <a:rPr lang="en-US" sz="1200" b="0" i="0" u="none" strike="noStrike" kern="1200" dirty="0" err="1">
                <a:solidFill>
                  <a:schemeClr val="tx1"/>
                </a:solidFill>
                <a:effectLst/>
                <a:latin typeface="+mn-lt"/>
                <a:ea typeface="+mn-ea"/>
                <a:cs typeface="+mn-cs"/>
              </a:rPr>
              <a:t>Errors</a:t>
            </a:r>
            <a:r>
              <a:rPr lang="en-US" sz="1200" b="0" i="0" u="none" strike="noStrike" kern="1200" dirty="0">
                <a:solidFill>
                  <a:schemeClr val="tx1"/>
                </a:solidFill>
                <a:effectLst/>
                <a:latin typeface="+mn-lt"/>
                <a:ea typeface="+mn-ea"/>
                <a:cs typeface="+mn-cs"/>
              </a:rPr>
              <a:t> from one observation should not affect another.</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Very important for time series and repeated measurements.</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Zero Mean Errors (No Systematic Bias)</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Your model shouldn’t consistently over- or under-predict.</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Violations often come from omitted variables.</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Homoscedasticity</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The spread of errors should be constant across all values of the predictors.</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If errors “fan out”, your standard errors are unreliable.</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No Perfect Multicollinearity</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Predictors should not be exact linear combinations of each other.</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Use correlation matrices or VIF to check.</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Normality of Errors (for Inference)</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Errors should be normally distributed, mainly for hypothesis testing, not estimation.</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Key takeaway:</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Assumptions are not just theory; they protect your conclusions.</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Understand them, check them, and know how to respond when they fail.</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P.S. Statistics is not about </a:t>
            </a:r>
            <a:r>
              <a:rPr lang="en-US" sz="1200" b="0" i="0" u="none" strike="noStrike" kern="1200" dirty="0" err="1">
                <a:solidFill>
                  <a:schemeClr val="tx1"/>
                </a:solidFill>
                <a:effectLst/>
                <a:latin typeface="+mn-lt"/>
                <a:ea typeface="+mn-ea"/>
                <a:cs typeface="+mn-cs"/>
              </a:rPr>
              <a:t>memorising</a:t>
            </a:r>
            <a:r>
              <a:rPr lang="en-US" sz="1200" b="0" i="0" u="none" strike="noStrike" kern="1200" dirty="0">
                <a:solidFill>
                  <a:schemeClr val="tx1"/>
                </a:solidFill>
                <a:effectLst/>
                <a:latin typeface="+mn-lt"/>
                <a:ea typeface="+mn-ea"/>
                <a:cs typeface="+mn-cs"/>
              </a:rPr>
              <a:t> formulas, it’s about thinking critically with data.</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1" i="0" u="none" strike="noStrike" kern="1200" dirty="0">
                <a:solidFill>
                  <a:schemeClr val="tx1"/>
                </a:solidFill>
                <a:effectLst/>
                <a:latin typeface="+mn-lt"/>
                <a:ea typeface="+mn-ea"/>
                <a:cs typeface="+mn-cs"/>
                <a:hlinkClick r:id="rId3"/>
              </a:rPr>
              <a:t>Joshua Salami Peter</a:t>
            </a:r>
            <a:br>
              <a:rPr lang="en-US" sz="1200" b="0" i="0" u="none" strike="noStrike" kern="1200" dirty="0">
                <a:solidFill>
                  <a:schemeClr val="tx1"/>
                </a:solidFill>
                <a:effectLst/>
                <a:latin typeface="+mn-lt"/>
                <a:ea typeface="+mn-ea"/>
                <a:cs typeface="+mn-cs"/>
              </a:rPr>
            </a:br>
            <a:r>
              <a:rPr lang="en-US" sz="1200" b="1" i="0" u="none" strike="noStrike" kern="1200" dirty="0">
                <a:solidFill>
                  <a:schemeClr val="tx1"/>
                </a:solidFill>
                <a:effectLst/>
                <a:latin typeface="+mn-lt"/>
                <a:ea typeface="+mn-ea"/>
                <a:cs typeface="+mn-cs"/>
                <a:hlinkClick r:id="rId4"/>
              </a:rPr>
              <a:t>#datascience</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hlinkClick r:id="rId5"/>
              </a:rPr>
              <a:t>#Statistics</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hlinkClick r:id="rId6"/>
              </a:rPr>
              <a:t>#AI</a:t>
            </a:r>
            <a:endParaRPr lang="en-US" sz="1200" b="1"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1CB5B8-A7FC-441A-BDD1-350397DE3454}" type="slidenum">
              <a:rPr lang="en-US" smtClean="0"/>
              <a:t>10</a:t>
            </a:fld>
            <a:endParaRPr lang="en-US"/>
          </a:p>
        </p:txBody>
      </p:sp>
    </p:spTree>
    <p:extLst>
      <p:ext uri="{BB962C8B-B14F-4D97-AF65-F5344CB8AC3E}">
        <p14:creationId xmlns:p14="http://schemas.microsoft.com/office/powerpoint/2010/main" val="3952019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6C16D-5B0A-F31E-5D65-13FF50E070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45FAD6-E84E-8A66-6CE9-D5B8041215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369A48-BCFA-E681-DAA9-3315125BEBD1}"/>
              </a:ext>
            </a:extLst>
          </p:cNvPr>
          <p:cNvSpPr>
            <a:spLocks noGrp="1"/>
          </p:cNvSpPr>
          <p:nvPr>
            <p:ph type="dt" sz="half" idx="10"/>
          </p:nvPr>
        </p:nvSpPr>
        <p:spPr/>
        <p:txBody>
          <a:bodyPr/>
          <a:lstStyle/>
          <a:p>
            <a:fld id="{A5565279-678B-4D17-9195-89097770CE3F}" type="datetimeFigureOut">
              <a:rPr lang="en-US" smtClean="0"/>
              <a:t>2/4/2026</a:t>
            </a:fld>
            <a:endParaRPr lang="en-US"/>
          </a:p>
        </p:txBody>
      </p:sp>
      <p:sp>
        <p:nvSpPr>
          <p:cNvPr id="5" name="Footer Placeholder 4">
            <a:extLst>
              <a:ext uri="{FF2B5EF4-FFF2-40B4-BE49-F238E27FC236}">
                <a16:creationId xmlns:a16="http://schemas.microsoft.com/office/drawing/2014/main" id="{D41EFE59-84CE-6837-8124-2110259B1E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22D040-26B3-8B44-95CF-D6D614FAB604}"/>
              </a:ext>
            </a:extLst>
          </p:cNvPr>
          <p:cNvSpPr>
            <a:spLocks noGrp="1"/>
          </p:cNvSpPr>
          <p:nvPr>
            <p:ph type="sldNum" sz="quarter" idx="12"/>
          </p:nvPr>
        </p:nvSpPr>
        <p:spPr/>
        <p:txBody>
          <a:bodyPr/>
          <a:lstStyle/>
          <a:p>
            <a:fld id="{2E7A0210-BE89-4D56-A5B7-BCB89C4B124A}" type="slidenum">
              <a:rPr lang="en-US" smtClean="0"/>
              <a:t>‹#›</a:t>
            </a:fld>
            <a:endParaRPr lang="en-US"/>
          </a:p>
        </p:txBody>
      </p:sp>
    </p:spTree>
    <p:extLst>
      <p:ext uri="{BB962C8B-B14F-4D97-AF65-F5344CB8AC3E}">
        <p14:creationId xmlns:p14="http://schemas.microsoft.com/office/powerpoint/2010/main" val="540779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E089F-C6A1-C5AA-3CB2-2DBD3BA4CF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A6276A-8573-ADED-CF57-0E9381F809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DF593-D5B4-3C9D-B3EA-F3DD1FBF106D}"/>
              </a:ext>
            </a:extLst>
          </p:cNvPr>
          <p:cNvSpPr>
            <a:spLocks noGrp="1"/>
          </p:cNvSpPr>
          <p:nvPr>
            <p:ph type="dt" sz="half" idx="10"/>
          </p:nvPr>
        </p:nvSpPr>
        <p:spPr/>
        <p:txBody>
          <a:bodyPr/>
          <a:lstStyle/>
          <a:p>
            <a:fld id="{A5565279-678B-4D17-9195-89097770CE3F}" type="datetimeFigureOut">
              <a:rPr lang="en-US" smtClean="0"/>
              <a:t>2/4/2026</a:t>
            </a:fld>
            <a:endParaRPr lang="en-US"/>
          </a:p>
        </p:txBody>
      </p:sp>
      <p:sp>
        <p:nvSpPr>
          <p:cNvPr id="5" name="Footer Placeholder 4">
            <a:extLst>
              <a:ext uri="{FF2B5EF4-FFF2-40B4-BE49-F238E27FC236}">
                <a16:creationId xmlns:a16="http://schemas.microsoft.com/office/drawing/2014/main" id="{C0EBFA4E-A496-8674-81B9-A05361433C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3FE7D-C865-D161-A802-D21A9CF20DCA}"/>
              </a:ext>
            </a:extLst>
          </p:cNvPr>
          <p:cNvSpPr>
            <a:spLocks noGrp="1"/>
          </p:cNvSpPr>
          <p:nvPr>
            <p:ph type="sldNum" sz="quarter" idx="12"/>
          </p:nvPr>
        </p:nvSpPr>
        <p:spPr/>
        <p:txBody>
          <a:bodyPr/>
          <a:lstStyle/>
          <a:p>
            <a:fld id="{2E7A0210-BE89-4D56-A5B7-BCB89C4B124A}" type="slidenum">
              <a:rPr lang="en-US" smtClean="0"/>
              <a:t>‹#›</a:t>
            </a:fld>
            <a:endParaRPr lang="en-US"/>
          </a:p>
        </p:txBody>
      </p:sp>
    </p:spTree>
    <p:extLst>
      <p:ext uri="{BB962C8B-B14F-4D97-AF65-F5344CB8AC3E}">
        <p14:creationId xmlns:p14="http://schemas.microsoft.com/office/powerpoint/2010/main" val="4231266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E1DD6-E1F3-6CF2-6122-9597E76C7C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280B76-78EE-45C8-06BD-8AE6C91F36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29630A-177C-53D3-DED8-0329D5B87826}"/>
              </a:ext>
            </a:extLst>
          </p:cNvPr>
          <p:cNvSpPr>
            <a:spLocks noGrp="1"/>
          </p:cNvSpPr>
          <p:nvPr>
            <p:ph type="dt" sz="half" idx="10"/>
          </p:nvPr>
        </p:nvSpPr>
        <p:spPr/>
        <p:txBody>
          <a:bodyPr/>
          <a:lstStyle/>
          <a:p>
            <a:fld id="{A5565279-678B-4D17-9195-89097770CE3F}" type="datetimeFigureOut">
              <a:rPr lang="en-US" smtClean="0"/>
              <a:t>2/4/2026</a:t>
            </a:fld>
            <a:endParaRPr lang="en-US"/>
          </a:p>
        </p:txBody>
      </p:sp>
      <p:sp>
        <p:nvSpPr>
          <p:cNvPr id="5" name="Footer Placeholder 4">
            <a:extLst>
              <a:ext uri="{FF2B5EF4-FFF2-40B4-BE49-F238E27FC236}">
                <a16:creationId xmlns:a16="http://schemas.microsoft.com/office/drawing/2014/main" id="{97263FD2-CFEC-3BD1-F4E5-E5794162DA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9C1828-01C9-12D0-7032-14339AF616CC}"/>
              </a:ext>
            </a:extLst>
          </p:cNvPr>
          <p:cNvSpPr>
            <a:spLocks noGrp="1"/>
          </p:cNvSpPr>
          <p:nvPr>
            <p:ph type="sldNum" sz="quarter" idx="12"/>
          </p:nvPr>
        </p:nvSpPr>
        <p:spPr/>
        <p:txBody>
          <a:bodyPr/>
          <a:lstStyle/>
          <a:p>
            <a:fld id="{2E7A0210-BE89-4D56-A5B7-BCB89C4B124A}" type="slidenum">
              <a:rPr lang="en-US" smtClean="0"/>
              <a:t>‹#›</a:t>
            </a:fld>
            <a:endParaRPr lang="en-US"/>
          </a:p>
        </p:txBody>
      </p:sp>
    </p:spTree>
    <p:extLst>
      <p:ext uri="{BB962C8B-B14F-4D97-AF65-F5344CB8AC3E}">
        <p14:creationId xmlns:p14="http://schemas.microsoft.com/office/powerpoint/2010/main" val="417292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46C53-1B67-C5A3-186B-A2B7A17C82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981181-7E66-8AF9-53B5-12ABCF9019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B44FEA-6125-78C7-B4AA-4DBEE72882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9C9BA3-871B-E871-467A-3760E1F88881}"/>
              </a:ext>
            </a:extLst>
          </p:cNvPr>
          <p:cNvSpPr>
            <a:spLocks noGrp="1"/>
          </p:cNvSpPr>
          <p:nvPr>
            <p:ph type="dt" sz="half" idx="10"/>
          </p:nvPr>
        </p:nvSpPr>
        <p:spPr/>
        <p:txBody>
          <a:bodyPr/>
          <a:lstStyle/>
          <a:p>
            <a:fld id="{A5565279-678B-4D17-9195-89097770CE3F}" type="datetimeFigureOut">
              <a:rPr lang="en-US" smtClean="0"/>
              <a:t>2/4/2026</a:t>
            </a:fld>
            <a:endParaRPr lang="en-US"/>
          </a:p>
        </p:txBody>
      </p:sp>
      <p:sp>
        <p:nvSpPr>
          <p:cNvPr id="6" name="Footer Placeholder 5">
            <a:extLst>
              <a:ext uri="{FF2B5EF4-FFF2-40B4-BE49-F238E27FC236}">
                <a16:creationId xmlns:a16="http://schemas.microsoft.com/office/drawing/2014/main" id="{BAB71203-B664-2B1B-B99C-234CFF24EB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646C20-72B5-00C8-0486-47137D76B805}"/>
              </a:ext>
            </a:extLst>
          </p:cNvPr>
          <p:cNvSpPr>
            <a:spLocks noGrp="1"/>
          </p:cNvSpPr>
          <p:nvPr>
            <p:ph type="sldNum" sz="quarter" idx="12"/>
          </p:nvPr>
        </p:nvSpPr>
        <p:spPr/>
        <p:txBody>
          <a:bodyPr/>
          <a:lstStyle/>
          <a:p>
            <a:fld id="{2E7A0210-BE89-4D56-A5B7-BCB89C4B124A}" type="slidenum">
              <a:rPr lang="en-US" smtClean="0"/>
              <a:t>‹#›</a:t>
            </a:fld>
            <a:endParaRPr lang="en-US"/>
          </a:p>
        </p:txBody>
      </p:sp>
    </p:spTree>
    <p:extLst>
      <p:ext uri="{BB962C8B-B14F-4D97-AF65-F5344CB8AC3E}">
        <p14:creationId xmlns:p14="http://schemas.microsoft.com/office/powerpoint/2010/main" val="3654055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C5744-CC6A-EAF3-E841-5AFFB869C3A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7DD2A6-8C07-7999-8A69-FCF64BB688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134340-574B-A9D8-A85A-1D3AC7E03A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314656-FA23-4994-0B17-5F896D4C1E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99B5BC-788B-92AF-F60B-995E041061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773EB3-B35D-AEBC-6FFE-2905EC314113}"/>
              </a:ext>
            </a:extLst>
          </p:cNvPr>
          <p:cNvSpPr>
            <a:spLocks noGrp="1"/>
          </p:cNvSpPr>
          <p:nvPr>
            <p:ph type="dt" sz="half" idx="10"/>
          </p:nvPr>
        </p:nvSpPr>
        <p:spPr/>
        <p:txBody>
          <a:bodyPr/>
          <a:lstStyle/>
          <a:p>
            <a:fld id="{A5565279-678B-4D17-9195-89097770CE3F}" type="datetimeFigureOut">
              <a:rPr lang="en-US" smtClean="0"/>
              <a:t>2/4/2026</a:t>
            </a:fld>
            <a:endParaRPr lang="en-US"/>
          </a:p>
        </p:txBody>
      </p:sp>
      <p:sp>
        <p:nvSpPr>
          <p:cNvPr id="8" name="Footer Placeholder 7">
            <a:extLst>
              <a:ext uri="{FF2B5EF4-FFF2-40B4-BE49-F238E27FC236}">
                <a16:creationId xmlns:a16="http://schemas.microsoft.com/office/drawing/2014/main" id="{4286200D-94E0-E5B4-361F-2A3E461557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A3289C-19C9-6A03-EBE1-1C59E9341A3A}"/>
              </a:ext>
            </a:extLst>
          </p:cNvPr>
          <p:cNvSpPr>
            <a:spLocks noGrp="1"/>
          </p:cNvSpPr>
          <p:nvPr>
            <p:ph type="sldNum" sz="quarter" idx="12"/>
          </p:nvPr>
        </p:nvSpPr>
        <p:spPr/>
        <p:txBody>
          <a:bodyPr/>
          <a:lstStyle/>
          <a:p>
            <a:fld id="{2E7A0210-BE89-4D56-A5B7-BCB89C4B124A}" type="slidenum">
              <a:rPr lang="en-US" smtClean="0"/>
              <a:t>‹#›</a:t>
            </a:fld>
            <a:endParaRPr lang="en-US"/>
          </a:p>
        </p:txBody>
      </p:sp>
    </p:spTree>
    <p:extLst>
      <p:ext uri="{BB962C8B-B14F-4D97-AF65-F5344CB8AC3E}">
        <p14:creationId xmlns:p14="http://schemas.microsoft.com/office/powerpoint/2010/main" val="1630881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AA262-3954-03BD-239B-778D2F3F6D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0D38D7-5E71-FEDB-5BB8-8A84A2164BE8}"/>
              </a:ext>
            </a:extLst>
          </p:cNvPr>
          <p:cNvSpPr>
            <a:spLocks noGrp="1"/>
          </p:cNvSpPr>
          <p:nvPr>
            <p:ph type="dt" sz="half" idx="10"/>
          </p:nvPr>
        </p:nvSpPr>
        <p:spPr/>
        <p:txBody>
          <a:bodyPr/>
          <a:lstStyle/>
          <a:p>
            <a:fld id="{A5565279-678B-4D17-9195-89097770CE3F}" type="datetimeFigureOut">
              <a:rPr lang="en-US" smtClean="0"/>
              <a:t>2/4/2026</a:t>
            </a:fld>
            <a:endParaRPr lang="en-US"/>
          </a:p>
        </p:txBody>
      </p:sp>
      <p:sp>
        <p:nvSpPr>
          <p:cNvPr id="4" name="Footer Placeholder 3">
            <a:extLst>
              <a:ext uri="{FF2B5EF4-FFF2-40B4-BE49-F238E27FC236}">
                <a16:creationId xmlns:a16="http://schemas.microsoft.com/office/drawing/2014/main" id="{68AF2AB9-45ED-BF9E-B657-7CA6B7DE2C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28DC62-7B0A-952C-DCCC-C44B92A42F62}"/>
              </a:ext>
            </a:extLst>
          </p:cNvPr>
          <p:cNvSpPr>
            <a:spLocks noGrp="1"/>
          </p:cNvSpPr>
          <p:nvPr>
            <p:ph type="sldNum" sz="quarter" idx="12"/>
          </p:nvPr>
        </p:nvSpPr>
        <p:spPr/>
        <p:txBody>
          <a:bodyPr/>
          <a:lstStyle/>
          <a:p>
            <a:fld id="{2E7A0210-BE89-4D56-A5B7-BCB89C4B124A}" type="slidenum">
              <a:rPr lang="en-US" smtClean="0"/>
              <a:t>‹#›</a:t>
            </a:fld>
            <a:endParaRPr lang="en-US"/>
          </a:p>
        </p:txBody>
      </p:sp>
    </p:spTree>
    <p:extLst>
      <p:ext uri="{BB962C8B-B14F-4D97-AF65-F5344CB8AC3E}">
        <p14:creationId xmlns:p14="http://schemas.microsoft.com/office/powerpoint/2010/main" val="249787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F773EB-58B3-EF3C-C0F9-2374C823EB19}"/>
              </a:ext>
            </a:extLst>
          </p:cNvPr>
          <p:cNvSpPr>
            <a:spLocks noGrp="1"/>
          </p:cNvSpPr>
          <p:nvPr>
            <p:ph type="dt" sz="half" idx="10"/>
          </p:nvPr>
        </p:nvSpPr>
        <p:spPr/>
        <p:txBody>
          <a:bodyPr/>
          <a:lstStyle/>
          <a:p>
            <a:fld id="{A5565279-678B-4D17-9195-89097770CE3F}" type="datetimeFigureOut">
              <a:rPr lang="en-US" smtClean="0"/>
              <a:t>2/4/2026</a:t>
            </a:fld>
            <a:endParaRPr lang="en-US"/>
          </a:p>
        </p:txBody>
      </p:sp>
      <p:sp>
        <p:nvSpPr>
          <p:cNvPr id="3" name="Footer Placeholder 2">
            <a:extLst>
              <a:ext uri="{FF2B5EF4-FFF2-40B4-BE49-F238E27FC236}">
                <a16:creationId xmlns:a16="http://schemas.microsoft.com/office/drawing/2014/main" id="{EBCD1E94-EC59-F682-B6F2-A1B809B4AF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44713E-CE0F-5F90-2C55-9127567EFC2D}"/>
              </a:ext>
            </a:extLst>
          </p:cNvPr>
          <p:cNvSpPr>
            <a:spLocks noGrp="1"/>
          </p:cNvSpPr>
          <p:nvPr>
            <p:ph type="sldNum" sz="quarter" idx="12"/>
          </p:nvPr>
        </p:nvSpPr>
        <p:spPr/>
        <p:txBody>
          <a:bodyPr/>
          <a:lstStyle/>
          <a:p>
            <a:fld id="{2E7A0210-BE89-4D56-A5B7-BCB89C4B124A}" type="slidenum">
              <a:rPr lang="en-US" smtClean="0"/>
              <a:t>‹#›</a:t>
            </a:fld>
            <a:endParaRPr lang="en-US"/>
          </a:p>
        </p:txBody>
      </p:sp>
    </p:spTree>
    <p:extLst>
      <p:ext uri="{BB962C8B-B14F-4D97-AF65-F5344CB8AC3E}">
        <p14:creationId xmlns:p14="http://schemas.microsoft.com/office/powerpoint/2010/main" val="1931830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F5460-3994-AC38-EFD5-73BBFB6F05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37530D-EEFB-6802-3577-BE6EC15AD4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49B088-AE0D-326C-F6B5-AF5E95CC3A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9867BA-C7A5-E339-5963-1EF77F977415}"/>
              </a:ext>
            </a:extLst>
          </p:cNvPr>
          <p:cNvSpPr>
            <a:spLocks noGrp="1"/>
          </p:cNvSpPr>
          <p:nvPr>
            <p:ph type="dt" sz="half" idx="10"/>
          </p:nvPr>
        </p:nvSpPr>
        <p:spPr/>
        <p:txBody>
          <a:bodyPr/>
          <a:lstStyle/>
          <a:p>
            <a:fld id="{A5565279-678B-4D17-9195-89097770CE3F}" type="datetimeFigureOut">
              <a:rPr lang="en-US" smtClean="0"/>
              <a:t>2/4/2026</a:t>
            </a:fld>
            <a:endParaRPr lang="en-US"/>
          </a:p>
        </p:txBody>
      </p:sp>
      <p:sp>
        <p:nvSpPr>
          <p:cNvPr id="6" name="Footer Placeholder 5">
            <a:extLst>
              <a:ext uri="{FF2B5EF4-FFF2-40B4-BE49-F238E27FC236}">
                <a16:creationId xmlns:a16="http://schemas.microsoft.com/office/drawing/2014/main" id="{F7551441-FF90-BD1C-4EEF-2D7EDD72B8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AAA10A-C7A1-727E-74CF-A9F6F6016AD5}"/>
              </a:ext>
            </a:extLst>
          </p:cNvPr>
          <p:cNvSpPr>
            <a:spLocks noGrp="1"/>
          </p:cNvSpPr>
          <p:nvPr>
            <p:ph type="sldNum" sz="quarter" idx="12"/>
          </p:nvPr>
        </p:nvSpPr>
        <p:spPr/>
        <p:txBody>
          <a:bodyPr/>
          <a:lstStyle/>
          <a:p>
            <a:fld id="{2E7A0210-BE89-4D56-A5B7-BCB89C4B124A}" type="slidenum">
              <a:rPr lang="en-US" smtClean="0"/>
              <a:t>‹#›</a:t>
            </a:fld>
            <a:endParaRPr lang="en-US"/>
          </a:p>
        </p:txBody>
      </p:sp>
    </p:spTree>
    <p:extLst>
      <p:ext uri="{BB962C8B-B14F-4D97-AF65-F5344CB8AC3E}">
        <p14:creationId xmlns:p14="http://schemas.microsoft.com/office/powerpoint/2010/main" val="3017628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0A98B-999A-D847-F93B-7225B10CF2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85B2A24-BFA0-172E-EEDE-3722C98DBE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461AF2-DCBE-A90A-8B09-896C8790D8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1B15FD-790A-BE29-5514-FBEF5E7A4922}"/>
              </a:ext>
            </a:extLst>
          </p:cNvPr>
          <p:cNvSpPr>
            <a:spLocks noGrp="1"/>
          </p:cNvSpPr>
          <p:nvPr>
            <p:ph type="dt" sz="half" idx="10"/>
          </p:nvPr>
        </p:nvSpPr>
        <p:spPr/>
        <p:txBody>
          <a:bodyPr/>
          <a:lstStyle/>
          <a:p>
            <a:fld id="{A5565279-678B-4D17-9195-89097770CE3F}" type="datetimeFigureOut">
              <a:rPr lang="en-US" smtClean="0"/>
              <a:t>2/4/2026</a:t>
            </a:fld>
            <a:endParaRPr lang="en-US"/>
          </a:p>
        </p:txBody>
      </p:sp>
      <p:sp>
        <p:nvSpPr>
          <p:cNvPr id="6" name="Footer Placeholder 5">
            <a:extLst>
              <a:ext uri="{FF2B5EF4-FFF2-40B4-BE49-F238E27FC236}">
                <a16:creationId xmlns:a16="http://schemas.microsoft.com/office/drawing/2014/main" id="{F75437A2-EBEE-5CDA-76B1-BAF4D46A8E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BCB285-1ED7-58D6-DD4B-EF8D51E12A23}"/>
              </a:ext>
            </a:extLst>
          </p:cNvPr>
          <p:cNvSpPr>
            <a:spLocks noGrp="1"/>
          </p:cNvSpPr>
          <p:nvPr>
            <p:ph type="sldNum" sz="quarter" idx="12"/>
          </p:nvPr>
        </p:nvSpPr>
        <p:spPr/>
        <p:txBody>
          <a:bodyPr/>
          <a:lstStyle/>
          <a:p>
            <a:fld id="{2E7A0210-BE89-4D56-A5B7-BCB89C4B124A}" type="slidenum">
              <a:rPr lang="en-US" smtClean="0"/>
              <a:t>‹#›</a:t>
            </a:fld>
            <a:endParaRPr lang="en-US"/>
          </a:p>
        </p:txBody>
      </p:sp>
    </p:spTree>
    <p:extLst>
      <p:ext uri="{BB962C8B-B14F-4D97-AF65-F5344CB8AC3E}">
        <p14:creationId xmlns:p14="http://schemas.microsoft.com/office/powerpoint/2010/main" val="3509532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83540-3EB3-9AC2-89BF-10F62993DE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0C48AE-C6E7-424B-B235-5812812EFA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BFFF01-FE30-47B7-5170-093E94B975CD}"/>
              </a:ext>
            </a:extLst>
          </p:cNvPr>
          <p:cNvSpPr>
            <a:spLocks noGrp="1"/>
          </p:cNvSpPr>
          <p:nvPr>
            <p:ph type="dt" sz="half" idx="10"/>
          </p:nvPr>
        </p:nvSpPr>
        <p:spPr/>
        <p:txBody>
          <a:bodyPr/>
          <a:lstStyle/>
          <a:p>
            <a:fld id="{A5565279-678B-4D17-9195-89097770CE3F}" type="datetimeFigureOut">
              <a:rPr lang="en-US" smtClean="0"/>
              <a:t>2/4/2026</a:t>
            </a:fld>
            <a:endParaRPr lang="en-US"/>
          </a:p>
        </p:txBody>
      </p:sp>
      <p:sp>
        <p:nvSpPr>
          <p:cNvPr id="5" name="Footer Placeholder 4">
            <a:extLst>
              <a:ext uri="{FF2B5EF4-FFF2-40B4-BE49-F238E27FC236}">
                <a16:creationId xmlns:a16="http://schemas.microsoft.com/office/drawing/2014/main" id="{AEEE2382-E15A-94D0-2E90-14A7E9FF6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D54D3F-699C-72F3-F0C3-E056D7F7C0FB}"/>
              </a:ext>
            </a:extLst>
          </p:cNvPr>
          <p:cNvSpPr>
            <a:spLocks noGrp="1"/>
          </p:cNvSpPr>
          <p:nvPr>
            <p:ph type="sldNum" sz="quarter" idx="12"/>
          </p:nvPr>
        </p:nvSpPr>
        <p:spPr/>
        <p:txBody>
          <a:bodyPr/>
          <a:lstStyle/>
          <a:p>
            <a:fld id="{2E7A0210-BE89-4D56-A5B7-BCB89C4B124A}" type="slidenum">
              <a:rPr lang="en-US" smtClean="0"/>
              <a:t>‹#›</a:t>
            </a:fld>
            <a:endParaRPr lang="en-US"/>
          </a:p>
        </p:txBody>
      </p:sp>
    </p:spTree>
    <p:extLst>
      <p:ext uri="{BB962C8B-B14F-4D97-AF65-F5344CB8AC3E}">
        <p14:creationId xmlns:p14="http://schemas.microsoft.com/office/powerpoint/2010/main" val="2063060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8B4FAF-647A-8F74-A29D-AD63C0FB51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592704-EE97-4CFD-08EE-47B841D3D0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756EBB-9987-F6A2-0698-F782ADED99F9}"/>
              </a:ext>
            </a:extLst>
          </p:cNvPr>
          <p:cNvSpPr>
            <a:spLocks noGrp="1"/>
          </p:cNvSpPr>
          <p:nvPr>
            <p:ph type="dt" sz="half" idx="10"/>
          </p:nvPr>
        </p:nvSpPr>
        <p:spPr/>
        <p:txBody>
          <a:bodyPr/>
          <a:lstStyle/>
          <a:p>
            <a:fld id="{A5565279-678B-4D17-9195-89097770CE3F}" type="datetimeFigureOut">
              <a:rPr lang="en-US" smtClean="0"/>
              <a:t>2/4/2026</a:t>
            </a:fld>
            <a:endParaRPr lang="en-US"/>
          </a:p>
        </p:txBody>
      </p:sp>
      <p:sp>
        <p:nvSpPr>
          <p:cNvPr id="5" name="Footer Placeholder 4">
            <a:extLst>
              <a:ext uri="{FF2B5EF4-FFF2-40B4-BE49-F238E27FC236}">
                <a16:creationId xmlns:a16="http://schemas.microsoft.com/office/drawing/2014/main" id="{26D24927-195C-1A50-10B3-009241E8A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2F6194-B1AB-733B-186B-776C0583D3DE}"/>
              </a:ext>
            </a:extLst>
          </p:cNvPr>
          <p:cNvSpPr>
            <a:spLocks noGrp="1"/>
          </p:cNvSpPr>
          <p:nvPr>
            <p:ph type="sldNum" sz="quarter" idx="12"/>
          </p:nvPr>
        </p:nvSpPr>
        <p:spPr/>
        <p:txBody>
          <a:bodyPr/>
          <a:lstStyle/>
          <a:p>
            <a:fld id="{2E7A0210-BE89-4D56-A5B7-BCB89C4B124A}" type="slidenum">
              <a:rPr lang="en-US" smtClean="0"/>
              <a:t>‹#›</a:t>
            </a:fld>
            <a:endParaRPr lang="en-US"/>
          </a:p>
        </p:txBody>
      </p:sp>
    </p:spTree>
    <p:extLst>
      <p:ext uri="{BB962C8B-B14F-4D97-AF65-F5344CB8AC3E}">
        <p14:creationId xmlns:p14="http://schemas.microsoft.com/office/powerpoint/2010/main" val="3575086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DC7F67-E534-2FF9-E1B0-5EA5641AB9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6287F1-CDC6-4470-009E-CBE777B92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0B0917-4B04-AC43-4C58-6A1B6EEEAD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565279-678B-4D17-9195-89097770CE3F}" type="datetimeFigureOut">
              <a:rPr lang="en-US" smtClean="0"/>
              <a:t>2/4/2026</a:t>
            </a:fld>
            <a:endParaRPr lang="en-US"/>
          </a:p>
        </p:txBody>
      </p:sp>
      <p:sp>
        <p:nvSpPr>
          <p:cNvPr id="5" name="Footer Placeholder 4">
            <a:extLst>
              <a:ext uri="{FF2B5EF4-FFF2-40B4-BE49-F238E27FC236}">
                <a16:creationId xmlns:a16="http://schemas.microsoft.com/office/drawing/2014/main" id="{F4DE2DA0-DCFB-9F11-AA3E-58E45367F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5DC670-DC2C-4AAA-E278-1EA9F7FDDD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7A0210-BE89-4D56-A5B7-BCB89C4B124A}" type="slidenum">
              <a:rPr lang="en-US" smtClean="0"/>
              <a:t>‹#›</a:t>
            </a:fld>
            <a:endParaRPr lang="en-US"/>
          </a:p>
        </p:txBody>
      </p:sp>
    </p:spTree>
    <p:extLst>
      <p:ext uri="{BB962C8B-B14F-4D97-AF65-F5344CB8AC3E}">
        <p14:creationId xmlns:p14="http://schemas.microsoft.com/office/powerpoint/2010/main" val="3752811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DEA32-F224-DB87-F48A-9CE681F13EB1}"/>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527BCEBB-6E23-C7E7-F3C4-A26A4FD9FEB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35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y be an image of text">
            <a:extLst>
              <a:ext uri="{FF2B5EF4-FFF2-40B4-BE49-F238E27FC236}">
                <a16:creationId xmlns:a16="http://schemas.microsoft.com/office/drawing/2014/main" id="{B2686A24-DF11-5074-8C12-B136CB6928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8037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y be a graphic of text">
            <a:extLst>
              <a:ext uri="{FF2B5EF4-FFF2-40B4-BE49-F238E27FC236}">
                <a16:creationId xmlns:a16="http://schemas.microsoft.com/office/drawing/2014/main" id="{0E207568-749E-DCCC-4BB7-4845CFB5DD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5475" y="0"/>
            <a:ext cx="38274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9356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C190F-7541-1261-B479-59BF331CF394}"/>
            </a:ext>
          </a:extLst>
        </p:cNvPr>
        <p:cNvGrpSpPr/>
        <p:nvPr/>
      </p:nvGrpSpPr>
      <p:grpSpPr>
        <a:xfrm>
          <a:off x="0" y="0"/>
          <a:ext cx="0" cy="0"/>
          <a:chOff x="0" y="0"/>
          <a:chExt cx="0" cy="0"/>
        </a:xfrm>
      </p:grpSpPr>
      <p:pic>
        <p:nvPicPr>
          <p:cNvPr id="2050" name="Picture 2" descr="May be an image of text that says 'ASSUMPTIONS OF ML ALGORITHMS ASKED IN INTERVIEWS'">
            <a:extLst>
              <a:ext uri="{FF2B5EF4-FFF2-40B4-BE49-F238E27FC236}">
                <a16:creationId xmlns:a16="http://schemas.microsoft.com/office/drawing/2014/main" id="{C7DFC3AB-EE2F-AA0D-E546-824EEBEE37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0531" y="0"/>
            <a:ext cx="62309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78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1B6DC-321C-0690-D7EC-02B6D3C8D16E}"/>
            </a:ext>
          </a:extLst>
        </p:cNvPr>
        <p:cNvGrpSpPr/>
        <p:nvPr/>
      </p:nvGrpSpPr>
      <p:grpSpPr>
        <a:xfrm>
          <a:off x="0" y="0"/>
          <a:ext cx="0" cy="0"/>
          <a:chOff x="0" y="0"/>
          <a:chExt cx="0" cy="0"/>
        </a:xfrm>
      </p:grpSpPr>
      <p:pic>
        <p:nvPicPr>
          <p:cNvPr id="3074" name="Picture 2" descr="May be a graphic of text that says 'The assumptions of Machine Learning algorithms are foundational principles that guide the algorithm's design and application. There are some assumptions of Machine Learning algorithms that are commonly asked in interviews to test if you will be able to select the right algorithm for any problem. Let's go through the assumptions of Machine Learning algorithms commonly asked in interviews.'">
            <a:extLst>
              <a:ext uri="{FF2B5EF4-FFF2-40B4-BE49-F238E27FC236}">
                <a16:creationId xmlns:a16="http://schemas.microsoft.com/office/drawing/2014/main" id="{898DCF21-4BDE-F3BC-09CD-0B33DBF65D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 y="0"/>
            <a:ext cx="562451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ay be a graphic of text that says 'Linearity Linearity is an assumption of Linear Regression. This assumption states that there is a linear relationship between the independent variables and the dependent variable. This means the change in the dependent variable is expected to be a linear combination of the changes in the independent variables.'">
            <a:extLst>
              <a:ext uri="{FF2B5EF4-FFF2-40B4-BE49-F238E27FC236}">
                <a16:creationId xmlns:a16="http://schemas.microsoft.com/office/drawing/2014/main" id="{082B4D1F-87B6-E153-D3EC-FAFBDB0135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1729" y="0"/>
            <a:ext cx="55308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6160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A88C8-F2C2-4624-B627-7F76ECEB9DEC}"/>
            </a:ext>
          </a:extLst>
        </p:cNvPr>
        <p:cNvGrpSpPr/>
        <p:nvPr/>
      </p:nvGrpSpPr>
      <p:grpSpPr>
        <a:xfrm>
          <a:off x="0" y="0"/>
          <a:ext cx="0" cy="0"/>
          <a:chOff x="0" y="0"/>
          <a:chExt cx="0" cy="0"/>
        </a:xfrm>
      </p:grpSpPr>
      <p:pic>
        <p:nvPicPr>
          <p:cNvPr id="4098" name="Picture 2" descr="May be a graphic of text that says 'Linearity of Log Odds The linearity of Log Odds is an assumption of the Logistic Regression algorithm. This assumption states that the log odds of the dependent variable (rather than the dependent variable itself) are a linear function of the independent variables. Odds here refer to the ratio of the probability of the event occurring to the probability of the event not occurring.'">
            <a:extLst>
              <a:ext uri="{FF2B5EF4-FFF2-40B4-BE49-F238E27FC236}">
                <a16:creationId xmlns:a16="http://schemas.microsoft.com/office/drawing/2014/main" id="{C50C8BE1-1364-03A6-846C-0B94933E73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795" y="0"/>
            <a:ext cx="544512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May be an image of text that says 'Feature Space Partitioning Feature Space Partitioning is an assumption of decision trees. This assumption states that the data can be split in such a way that similar values of the target variable are grouped together. It means that decision trees work by splitting the dataset into smaller groups based on the features, aiming to group together data points with similar target variable values.'">
            <a:extLst>
              <a:ext uri="{FF2B5EF4-FFF2-40B4-BE49-F238E27FC236}">
                <a16:creationId xmlns:a16="http://schemas.microsoft.com/office/drawing/2014/main" id="{BAD25536-C291-8708-D16F-F3352EB461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7280" y="0"/>
            <a:ext cx="5511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286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F7C7C-9F11-78F5-52E8-628FCA1B06D9}"/>
            </a:ext>
          </a:extLst>
        </p:cNvPr>
        <p:cNvGrpSpPr/>
        <p:nvPr/>
      </p:nvGrpSpPr>
      <p:grpSpPr>
        <a:xfrm>
          <a:off x="0" y="0"/>
          <a:ext cx="0" cy="0"/>
          <a:chOff x="0" y="0"/>
          <a:chExt cx="0" cy="0"/>
        </a:xfrm>
      </p:grpSpPr>
      <p:pic>
        <p:nvPicPr>
          <p:cNvPr id="5122" name="Picture 2" descr="May be a graphic of text that says '····· Separability Separability is an assumption of Support Vector Machines. This assumption states that the data is linearly separable in some high- dimensional feature space, which can be achieved through the appropriate choice of the kernel function. It means that the algorithm assumes that it's possible to draw a boundary (or hyperplane) that separates the classes in the dataset, at least in some high- dimensional space.'">
            <a:extLst>
              <a:ext uri="{FF2B5EF4-FFF2-40B4-BE49-F238E27FC236}">
                <a16:creationId xmlns:a16="http://schemas.microsoft.com/office/drawing/2014/main" id="{A6A19479-6980-60B8-4C4C-255391AA55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640" y="0"/>
            <a:ext cx="561816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ay be a graphic of text that says 'Feature Scale Sensitivity Feature Scale Sensitivity is an assumption of the KNN algorithm. This assumption states that all features have the same scale or importance, as it relies on measuring distances between data points. It means that the algorithm is sensitive to the scale (or range) of the features used in the model.'">
            <a:extLst>
              <a:ext uri="{FF2B5EF4-FFF2-40B4-BE49-F238E27FC236}">
                <a16:creationId xmlns:a16="http://schemas.microsoft.com/office/drawing/2014/main" id="{8405AB6A-5B38-45AD-8486-57887DB355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9355" y="0"/>
            <a:ext cx="55054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39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FCCA4-3425-4407-B2B0-1A9D910C1AD3}"/>
            </a:ext>
          </a:extLst>
        </p:cNvPr>
        <p:cNvGrpSpPr/>
        <p:nvPr/>
      </p:nvGrpSpPr>
      <p:grpSpPr>
        <a:xfrm>
          <a:off x="0" y="0"/>
          <a:ext cx="0" cy="0"/>
          <a:chOff x="0" y="0"/>
          <a:chExt cx="0" cy="0"/>
        </a:xfrm>
      </p:grpSpPr>
      <p:pic>
        <p:nvPicPr>
          <p:cNvPr id="6146" name="Picture 2" descr="May be an image of text that says 'Independence of Predictors The independence of predictors is an assumption of the Naïve Bayes algorithm. oresence This assumption states that the (or absence) of a particular feature in a class is unrelated to the presence (or absence) of any other feature. It means that the algorithm assumes each feature in the dataset is independent of the others, given the outcome variable.'">
            <a:extLst>
              <a:ext uri="{FF2B5EF4-FFF2-40B4-BE49-F238E27FC236}">
                <a16:creationId xmlns:a16="http://schemas.microsoft.com/office/drawing/2014/main" id="{22D56B8C-129A-0CB7-879A-39E781CA11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0" y="0"/>
            <a:ext cx="5487987"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May be a graphic of text that says '.•....•. Spherical Clusters Spherical Clusters is an assumption of the K-means clustering algorithm. This assumption states that clusters are spherical and evenly sized, which influences how the algorithm calculates distances and assigns points to clusters. This assumption affects how the algorithm assigns data points to clusters based on their distance to the cluster's centre (centroid).'">
            <a:extLst>
              <a:ext uri="{FF2B5EF4-FFF2-40B4-BE49-F238E27FC236}">
                <a16:creationId xmlns:a16="http://schemas.microsoft.com/office/drawing/2014/main" id="{3A76D822-5CC5-AECB-4D96-6C4BFF79F6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0"/>
            <a:ext cx="55006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728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7D689-105A-FCF9-E322-B674A935F8A6}"/>
            </a:ext>
          </a:extLst>
        </p:cNvPr>
        <p:cNvGrpSpPr/>
        <p:nvPr/>
      </p:nvGrpSpPr>
      <p:grpSpPr>
        <a:xfrm>
          <a:off x="0" y="0"/>
          <a:ext cx="0" cy="0"/>
          <a:chOff x="0" y="0"/>
          <a:chExt cx="0" cy="0"/>
        </a:xfrm>
      </p:grpSpPr>
      <p:pic>
        <p:nvPicPr>
          <p:cNvPr id="8194" name="Picture 2" descr="May be an image of owl, hornbill, wallaby and text">
            <a:extLst>
              <a:ext uri="{FF2B5EF4-FFF2-40B4-BE49-F238E27FC236}">
                <a16:creationId xmlns:a16="http://schemas.microsoft.com/office/drawing/2014/main" id="{E5394D49-F6DC-3DAD-5744-96AF8F0FC7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0"/>
            <a:ext cx="55864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345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A10B4-DF6E-7539-085B-B9F2D7D0BE9A}"/>
            </a:ext>
          </a:extLst>
        </p:cNvPr>
        <p:cNvGrpSpPr/>
        <p:nvPr/>
      </p:nvGrpSpPr>
      <p:grpSpPr>
        <a:xfrm>
          <a:off x="0" y="0"/>
          <a:ext cx="0" cy="0"/>
          <a:chOff x="0" y="0"/>
          <a:chExt cx="0" cy="0"/>
        </a:xfrm>
      </p:grpSpPr>
      <p:pic>
        <p:nvPicPr>
          <p:cNvPr id="9218" name="Picture 2" descr="May be an image of text">
            <a:extLst>
              <a:ext uri="{FF2B5EF4-FFF2-40B4-BE49-F238E27FC236}">
                <a16:creationId xmlns:a16="http://schemas.microsoft.com/office/drawing/2014/main" id="{1CBA26B4-647E-C94F-DA2C-BF76AABB57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4063" y="0"/>
            <a:ext cx="56022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7112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09EE6-55F1-7553-5217-7018B781C86D}"/>
            </a:ext>
          </a:extLst>
        </p:cNvPr>
        <p:cNvGrpSpPr/>
        <p:nvPr/>
      </p:nvGrpSpPr>
      <p:grpSpPr>
        <a:xfrm>
          <a:off x="0" y="0"/>
          <a:ext cx="0" cy="0"/>
          <a:chOff x="0" y="0"/>
          <a:chExt cx="0" cy="0"/>
        </a:xfrm>
      </p:grpSpPr>
      <p:pic>
        <p:nvPicPr>
          <p:cNvPr id="10242" name="Picture 2" descr="May be a doodle of blueprint, floor plan and text">
            <a:extLst>
              <a:ext uri="{FF2B5EF4-FFF2-40B4-BE49-F238E27FC236}">
                <a16:creationId xmlns:a16="http://schemas.microsoft.com/office/drawing/2014/main" id="{3B615BD8-E76A-59B0-FE14-BE8FF2256C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5175" y="0"/>
            <a:ext cx="55800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4666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6F571-59C0-A5AE-D4C1-742C28BD6EE8}"/>
            </a:ext>
          </a:extLst>
        </p:cNvPr>
        <p:cNvGrpSpPr/>
        <p:nvPr/>
      </p:nvGrpSpPr>
      <p:grpSpPr>
        <a:xfrm>
          <a:off x="0" y="0"/>
          <a:ext cx="0" cy="0"/>
          <a:chOff x="0" y="0"/>
          <a:chExt cx="0" cy="0"/>
        </a:xfrm>
      </p:grpSpPr>
    </p:spTree>
    <p:extLst>
      <p:ext uri="{BB962C8B-B14F-4D97-AF65-F5344CB8AC3E}">
        <p14:creationId xmlns:p14="http://schemas.microsoft.com/office/powerpoint/2010/main" val="3428563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21EF2-3A32-29C4-4EB1-38556C396A28}"/>
            </a:ext>
          </a:extLst>
        </p:cNvPr>
        <p:cNvGrpSpPr/>
        <p:nvPr/>
      </p:nvGrpSpPr>
      <p:grpSpPr>
        <a:xfrm>
          <a:off x="0" y="0"/>
          <a:ext cx="0" cy="0"/>
          <a:chOff x="0" y="0"/>
          <a:chExt cx="0" cy="0"/>
        </a:xfrm>
      </p:grpSpPr>
    </p:spTree>
    <p:extLst>
      <p:ext uri="{BB962C8B-B14F-4D97-AF65-F5344CB8AC3E}">
        <p14:creationId xmlns:p14="http://schemas.microsoft.com/office/powerpoint/2010/main" val="1869808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F3CC7-9412-7D52-A361-AD5996D30D77}"/>
            </a:ext>
          </a:extLst>
        </p:cNvPr>
        <p:cNvGrpSpPr/>
        <p:nvPr/>
      </p:nvGrpSpPr>
      <p:grpSpPr>
        <a:xfrm>
          <a:off x="0" y="0"/>
          <a:ext cx="0" cy="0"/>
          <a:chOff x="0" y="0"/>
          <a:chExt cx="0" cy="0"/>
        </a:xfrm>
      </p:grpSpPr>
    </p:spTree>
    <p:extLst>
      <p:ext uri="{BB962C8B-B14F-4D97-AF65-F5344CB8AC3E}">
        <p14:creationId xmlns:p14="http://schemas.microsoft.com/office/powerpoint/2010/main" val="2863651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46C9A-4287-8D8C-65C8-C9A78768F34D}"/>
            </a:ext>
          </a:extLst>
        </p:cNvPr>
        <p:cNvGrpSpPr/>
        <p:nvPr/>
      </p:nvGrpSpPr>
      <p:grpSpPr>
        <a:xfrm>
          <a:off x="0" y="0"/>
          <a:ext cx="0" cy="0"/>
          <a:chOff x="0" y="0"/>
          <a:chExt cx="0" cy="0"/>
        </a:xfrm>
      </p:grpSpPr>
    </p:spTree>
    <p:extLst>
      <p:ext uri="{BB962C8B-B14F-4D97-AF65-F5344CB8AC3E}">
        <p14:creationId xmlns:p14="http://schemas.microsoft.com/office/powerpoint/2010/main" val="3404313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C3C79-D620-49CA-DE33-2CD67ADEFDBA}"/>
            </a:ext>
          </a:extLst>
        </p:cNvPr>
        <p:cNvGrpSpPr/>
        <p:nvPr/>
      </p:nvGrpSpPr>
      <p:grpSpPr>
        <a:xfrm>
          <a:off x="0" y="0"/>
          <a:ext cx="0" cy="0"/>
          <a:chOff x="0" y="0"/>
          <a:chExt cx="0" cy="0"/>
        </a:xfrm>
      </p:grpSpPr>
    </p:spTree>
    <p:extLst>
      <p:ext uri="{BB962C8B-B14F-4D97-AF65-F5344CB8AC3E}">
        <p14:creationId xmlns:p14="http://schemas.microsoft.com/office/powerpoint/2010/main" val="1137249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57874-EF12-2EF6-3ED0-5AF81C97F7A1}"/>
            </a:ext>
          </a:extLst>
        </p:cNvPr>
        <p:cNvGrpSpPr/>
        <p:nvPr/>
      </p:nvGrpSpPr>
      <p:grpSpPr>
        <a:xfrm>
          <a:off x="0" y="0"/>
          <a:ext cx="0" cy="0"/>
          <a:chOff x="0" y="0"/>
          <a:chExt cx="0" cy="0"/>
        </a:xfrm>
      </p:grpSpPr>
    </p:spTree>
    <p:extLst>
      <p:ext uri="{BB962C8B-B14F-4D97-AF65-F5344CB8AC3E}">
        <p14:creationId xmlns:p14="http://schemas.microsoft.com/office/powerpoint/2010/main" val="3641135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901F1-6E98-6A7C-D409-DFDC4462A2E5}"/>
            </a:ext>
          </a:extLst>
        </p:cNvPr>
        <p:cNvGrpSpPr/>
        <p:nvPr/>
      </p:nvGrpSpPr>
      <p:grpSpPr>
        <a:xfrm>
          <a:off x="0" y="0"/>
          <a:ext cx="0" cy="0"/>
          <a:chOff x="0" y="0"/>
          <a:chExt cx="0" cy="0"/>
        </a:xfrm>
      </p:grpSpPr>
    </p:spTree>
    <p:extLst>
      <p:ext uri="{BB962C8B-B14F-4D97-AF65-F5344CB8AC3E}">
        <p14:creationId xmlns:p14="http://schemas.microsoft.com/office/powerpoint/2010/main" val="37934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A4439-3FD0-207C-8ABE-00E604493DA9}"/>
            </a:ext>
          </a:extLst>
        </p:cNvPr>
        <p:cNvGrpSpPr/>
        <p:nvPr/>
      </p:nvGrpSpPr>
      <p:grpSpPr>
        <a:xfrm>
          <a:off x="0" y="0"/>
          <a:ext cx="0" cy="0"/>
          <a:chOff x="0" y="0"/>
          <a:chExt cx="0" cy="0"/>
        </a:xfrm>
      </p:grpSpPr>
    </p:spTree>
    <p:extLst>
      <p:ext uri="{BB962C8B-B14F-4D97-AF65-F5344CB8AC3E}">
        <p14:creationId xmlns:p14="http://schemas.microsoft.com/office/powerpoint/2010/main" val="3159120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A5CA9-B66E-40D4-9DF4-6FAAAAF572A6}"/>
            </a:ext>
          </a:extLst>
        </p:cNvPr>
        <p:cNvGrpSpPr/>
        <p:nvPr/>
      </p:nvGrpSpPr>
      <p:grpSpPr>
        <a:xfrm>
          <a:off x="0" y="0"/>
          <a:ext cx="0" cy="0"/>
          <a:chOff x="0" y="0"/>
          <a:chExt cx="0" cy="0"/>
        </a:xfrm>
      </p:grpSpPr>
    </p:spTree>
    <p:extLst>
      <p:ext uri="{BB962C8B-B14F-4D97-AF65-F5344CB8AC3E}">
        <p14:creationId xmlns:p14="http://schemas.microsoft.com/office/powerpoint/2010/main" val="2916990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D9335-2123-6990-C7B4-E9595EA5609A}"/>
            </a:ext>
          </a:extLst>
        </p:cNvPr>
        <p:cNvGrpSpPr/>
        <p:nvPr/>
      </p:nvGrpSpPr>
      <p:grpSpPr>
        <a:xfrm>
          <a:off x="0" y="0"/>
          <a:ext cx="0" cy="0"/>
          <a:chOff x="0" y="0"/>
          <a:chExt cx="0" cy="0"/>
        </a:xfrm>
      </p:grpSpPr>
    </p:spTree>
    <p:extLst>
      <p:ext uri="{BB962C8B-B14F-4D97-AF65-F5344CB8AC3E}">
        <p14:creationId xmlns:p14="http://schemas.microsoft.com/office/powerpoint/2010/main" val="697864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979D6-D39A-6F1A-A0CF-4B37599E01EE}"/>
            </a:ext>
          </a:extLst>
        </p:cNvPr>
        <p:cNvGrpSpPr/>
        <p:nvPr/>
      </p:nvGrpSpPr>
      <p:grpSpPr>
        <a:xfrm>
          <a:off x="0" y="0"/>
          <a:ext cx="0" cy="0"/>
          <a:chOff x="0" y="0"/>
          <a:chExt cx="0" cy="0"/>
        </a:xfrm>
      </p:grpSpPr>
      <p:pic>
        <p:nvPicPr>
          <p:cNvPr id="7170" name="Picture 2">
            <a:extLst>
              <a:ext uri="{FF2B5EF4-FFF2-40B4-BE49-F238E27FC236}">
                <a16:creationId xmlns:a16="http://schemas.microsoft.com/office/drawing/2014/main" id="{6E1190D9-3AF0-52C3-4662-30C9047A7F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1438" y="0"/>
            <a:ext cx="69675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3603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293</Words>
  <Application>Microsoft Office PowerPoint</Application>
  <PresentationFormat>Widescreen</PresentationFormat>
  <Paragraphs>3</Paragraphs>
  <Slides>21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Dipak Pulami Magar</dc:creator>
  <cp:lastModifiedBy>Dipak Pulami Magar</cp:lastModifiedBy>
  <cp:revision>1</cp:revision>
  <dcterms:created xsi:type="dcterms:W3CDTF">2026-02-04T08:55:38Z</dcterms:created>
  <dcterms:modified xsi:type="dcterms:W3CDTF">2026-02-04T09:24:04Z</dcterms:modified>
</cp:coreProperties>
</file>